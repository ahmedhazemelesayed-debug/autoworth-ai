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2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charts/chart3.xml" ContentType="application/vnd.openxmlformats-officedocument.drawingml.chart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R² (higher is better)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R²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Linear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</c:v>
                  </c:pt>
                  <c:pt idx="4">
                    <c:v>XGBoost-style Boosting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0.924</c:v>
                </c:pt>
                <c:pt idx="1">
                  <c:v>0.92</c:v>
                </c:pt>
                <c:pt idx="2">
                  <c:v>0.957</c:v>
                </c:pt>
                <c:pt idx="3">
                  <c:v>0.937</c:v>
                </c:pt>
                <c:pt idx="4">
                  <c:v>0.958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97"/>
          <c:min val="0.8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7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</c:v>
                </c:pt>
              </c:strCache>
            </c:strRef>
          </c:tx>
          <c:spPr>
            <a:solidFill>
              <a:srgbClr val="3D5A8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Linear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</c:v>
                  </c:pt>
                  <c:pt idx="4">
                    <c:v>XGBoost-style Boosting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0.9194</c:v>
                </c:pt>
                <c:pt idx="1">
                  <c:v>0.9996</c:v>
                </c:pt>
                <c:pt idx="2">
                  <c:v>0.9814</c:v>
                </c:pt>
                <c:pt idx="3">
                  <c:v>0.9432</c:v>
                </c:pt>
                <c:pt idx="4">
                  <c:v>0.9695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Validation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Linear Regression</c:v>
                  </c:pt>
                  <c:pt idx="1">
                    <c:v>Decision Tree</c:v>
                  </c:pt>
                  <c:pt idx="2">
                    <c:v>Random Forest</c:v>
                  </c:pt>
                  <c:pt idx="3">
                    <c:v>Gradient Boosting</c:v>
                  </c:pt>
                  <c:pt idx="4">
                    <c:v>XGBoost-style Boosting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0.9236</c:v>
                </c:pt>
                <c:pt idx="1">
                  <c:v>0.9202</c:v>
                </c:pt>
                <c:pt idx="2">
                  <c:v>0.9574</c:v>
                </c:pt>
                <c:pt idx="3">
                  <c:v>0.9371</c:v>
                </c:pt>
                <c:pt idx="4">
                  <c:v>0.9582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4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8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7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200" b="0" i="0" u="none" strike="noStrike">
                <a:solidFill>
                  <a:srgbClr val="000000"/>
                </a:solidFill>
                <a:latin typeface="Arial"/>
              </a:rPr>
              <a:t>MAE by manufacturer (£)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MAE (£)</c:v>
                </c:pt>
              </c:strCache>
            </c:strRef>
          </c:tx>
          <c:spPr>
            <a:solidFill>
              <a:srgbClr val="F4A30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Vauxhall</c:v>
                  </c:pt>
                  <c:pt idx="1">
                    <c:v>Toyota</c:v>
                  </c:pt>
                  <c:pt idx="2">
                    <c:v>Hyundai</c:v>
                  </c:pt>
                  <c:pt idx="3">
                    <c:v>Ford</c:v>
                  </c:pt>
                  <c:pt idx="4">
                    <c:v>Skoda</c:v>
                  </c:pt>
                  <c:pt idx="5">
                    <c:v>Volkswagen</c:v>
                  </c:pt>
                  <c:pt idx="6">
                    <c:v>BMW</c:v>
                  </c:pt>
                  <c:pt idx="7">
                    <c:v>Audi</c:v>
                  </c:pt>
                  <c:pt idx="8">
                    <c:v>Mercedes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685</c:v>
                </c:pt>
                <c:pt idx="1">
                  <c:v>790</c:v>
                </c:pt>
                <c:pt idx="2">
                  <c:v>805</c:v>
                </c:pt>
                <c:pt idx="3">
                  <c:v>826</c:v>
                </c:pt>
                <c:pt idx="4">
                  <c:v>923</c:v>
                </c:pt>
                <c:pt idx="5">
                  <c:v>1065</c:v>
                </c:pt>
                <c:pt idx="6">
                  <c:v>1513</c:v>
                </c:pt>
                <c:pt idx="7">
                  <c:v>1533</c:v>
                </c:pt>
                <c:pt idx="8">
                  <c:v>1568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4213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7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predict the fair market price of a used UK car and tell the buyer if the seller's price is a good deal.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AutoWorth AI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7744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4A300"/>
                </a:solidFill>
              </a:rPr>
              <a:t>Used Car Price &amp; Deal Advisor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11480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D3E6"/>
                </a:solidFill>
              </a:rPr>
              <a:t>Final Machine Learning Project  ·  Individual  ·  Your name here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“What is the expected market price of this car, and is the seller offering a good deal?”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99,187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listings, 9 UK manufacturers (Kaggle)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3200400" y="155448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3D5A8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97,709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32004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rows after cleaning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5943600" y="1554480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228600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features incl. 5 engineered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Regression task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Target: price (£). Inputs: make, model, year, mileage, transmission, fuel type, engine size, MPG, tax.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754880" y="3017520"/>
            <a:ext cx="3931920" cy="14630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108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Smart Deal Advisor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4892040" y="342900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Compare the predicted market price with the seller's price → 🟢 Great / 🟢 Good / 🟡 Fair / 🟠 Slightly overpriced / 🔴 Overpriced.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Cleaning: investigate first, then decide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Every decision was checked against the data before rows were touched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Duplicates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1,475 identical rows removed — same advert scraped twice; would leak between train and test.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64408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Invalid years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2060 (impossible) and two 1970 rows (models did not exist) dropped — 3 rows only.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71616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Engine size = 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265 petrol/diesel/hybrid cars → set to missing, imputed with the TRAIN median + flag feature. EVs keep 0.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MPG outliers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474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Plug-in hybrids / EVs report up to 470 mpg. Rows kept, values clipped to [10, 150].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64408" y="30632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01568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Price &amp; mileage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3474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£450 bangers and £160k G-Classes are real market extremes → kept.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71616" y="30632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08776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Categories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08776" y="3474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Leading spaces in model names fixed; Hyundai's “tax(£)” column renamed before combining.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price is skewed, brand matters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Prices are right-skewed → models learn log(price)</a:t>
            </a:r>
            <a:endParaRPr lang="en-US" sz="1400" dirty="0"/>
          </a:p>
        </p:txBody>
      </p:sp>
      <p:pic>
        <p:nvPicPr>
          <p:cNvPr id="4" name="Image 0" descr="01_price_distrib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463040"/>
            <a:ext cx="4023360" cy="1294905"/>
          </a:xfrm>
          <a:prstGeom prst="rect">
            <a:avLst/>
          </a:prstGeom>
        </p:spPr>
      </p:pic>
      <p:pic>
        <p:nvPicPr>
          <p:cNvPr id="5" name="Image 1" descr="04_avg_price_by_mak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1371600"/>
            <a:ext cx="4023360" cy="2470138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2062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</a:rPr>
              <a:t>Mean £16,774 vs median £14,470 (skew 2.36 → −0.08 after log). Mercedes, Audi and BMW average ~£23–25k; Vauxhall ~£10k.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EDA: age, mileage and engine drive price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Correlation with price: engine size 0.65 · year 0.50 · mileage −0.42 · mpg −0.37</a:t>
            </a:r>
            <a:endParaRPr lang="en-US" sz="1400" dirty="0"/>
          </a:p>
        </p:txBody>
      </p:sp>
      <p:pic>
        <p:nvPicPr>
          <p:cNvPr id="4" name="Image 0" descr="03_price_vs_ye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371600"/>
            <a:ext cx="4754880" cy="2110653"/>
          </a:xfrm>
          <a:prstGeom prst="rect">
            <a:avLst/>
          </a:prstGeom>
        </p:spPr>
      </p:pic>
      <p:pic>
        <p:nvPicPr>
          <p:cNvPr id="5" name="Image 1" descr="07_correlation_heatma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6932" y="1280160"/>
            <a:ext cx="2967896" cy="2560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40233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</a:rPr>
              <a:t>Median price: £2.5k (2005) → £10.5k (2015) → £27k (2020). Manual cars £11k vs Automatic £19k; petrol £12k vs diesel £17k.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engineering: 5 new features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Row-wise formulas — nothing learned from data, so no leakage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car_age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2020 − year. Reference year 2020 = scrape year.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264408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401568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mileage_per_year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3401568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mileage / max(age,1). Separates heavy vs light use; safe for age 0.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071616" y="137160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208776" y="14630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is_premium_brand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208776" y="178308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Audi, BMW, Mercedes = 1. Premium makes cost ~2× more.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94360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engine_mpg_ratio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3474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engineSize / mpg. Power-vs-economy proxy.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64408" y="30632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01568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engine_missing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3401568" y="3474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Flags the 265 imputed engine sizes.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071616" y="3063240"/>
            <a:ext cx="2651760" cy="1554480"/>
          </a:xfrm>
          <a:prstGeom prst="roundRect">
            <a:avLst>
              <a:gd name="adj" fmla="val 4706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08776" y="315468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4A300"/>
                </a:solidFill>
              </a:rPr>
              <a:t>Result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208776" y="3474720"/>
            <a:ext cx="23774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engine_mpg_ratio and car_age are among the top features.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6208776" y="347472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engine_mpg_ratio and car_age are among the top features.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data leakage by design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Split first — every fitted step sees the training set only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73736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14213D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73736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Split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70/15/15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1938528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77D"/>
                </a:solidFill>
              </a:rPr>
              <a:t>→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2148840" y="173736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148840" y="173736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Fit imputer +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scaler + encoder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 TRAIN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30168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77D"/>
                </a:solidFill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40480" y="173736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840480" y="173736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Transform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validation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321808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77D"/>
                </a:solidFill>
              </a:rPr>
              <a:t>→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5532120" y="173736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3D5A80"/>
          </a:solidFill>
          <a:ln w="12700">
            <a:solidFill>
              <a:srgbClr val="3D5A8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532120" y="173736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Select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on validation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7013448" y="2011680"/>
            <a:ext cx="228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5C677D"/>
                </a:solidFill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23760" y="1737360"/>
            <a:ext cx="1508760" cy="1188720"/>
          </a:xfrm>
          <a:prstGeom prst="roundRect">
            <a:avLst>
              <a:gd name="adj" fmla="val 7692"/>
            </a:avLst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7223760" y="1737360"/>
            <a:ext cx="1508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Test set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4213D"/>
                </a:solidFill>
              </a:rPr>
              <a:t>used ONCE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4213D"/>
                </a:solidFill>
              </a:rPr>
              <a:t>Train 68,396  ·  Validation 14,656  ·  Test 14,657 rows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13D"/>
                </a:solidFill>
              </a:rPr>
              <a:t>Tuning uses cross-validation inside a Pipeline, so preprocessing is re-fitted in every fold.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14213D"/>
                </a:solidFill>
              </a:rPr>
              <a:t>Duplicates removed first so identical cars cannot sit in both train and test.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models compared (validation set)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Ensembles win; the log-target linear model is a strong baseline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2062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371600"/>
          <a:ext cx="40233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640080"/>
                <a:gridCol w="822960"/>
                <a:gridCol w="8229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R²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MAE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RMSE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213D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Linear Regression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0.924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£1,599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£2,740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Decision Tree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0.920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£1,472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£2,799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Random Forest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0.957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£1,139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£2,046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Gradient Boosting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0.937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£1,489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£2,484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XGBoost-style Boosting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0.958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£1,149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4213D"/>
                          </a:solidFill>
                        </a:rPr>
                        <a:t>£2,025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4754880" y="3749040"/>
            <a:ext cx="4023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All five models pass the R² &gt; 0.90 target; Random Forest and boosting cut the MAE by ~30% vs linear.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Overfitting check: train vs validation R²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Decision Tree memorises; boosting generalises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548640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126480" y="14630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D6454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0.079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21945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Decision Tree gap (0.9996 vs 0.920) → overfit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126480" y="2834640"/>
            <a:ext cx="2560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9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0.011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3566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Boosting gap → generalises well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tuning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RandomizedSearchCV: 8 combinations × 3-fold CV on the training set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C677D"/>
                </a:solidFill>
              </a:rPr>
              <a:t>Before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475488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D9D4A"/>
                </a:solidFill>
              </a:rPr>
              <a:t>After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6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0.958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R²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2377440" y="182880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C677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£1,149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2377440" y="256032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MAE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754880" y="182880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9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4754880" y="2560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R²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0" y="182880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9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£1,096</a:t>
            </a:r>
            <a:endParaRPr lang="en-US" sz="4000" dirty="0"/>
          </a:p>
        </p:txBody>
      </p:sp>
      <p:sp>
        <p:nvSpPr>
          <p:cNvPr id="13" name="Text 11"/>
          <p:cNvSpPr txBox="1"/>
          <p:nvPr/>
        </p:nvSpPr>
        <p:spPr>
          <a:xfrm>
            <a:off x="6675120" y="25603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MAE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91840"/>
            <a:ext cx="8229600" cy="1280160"/>
          </a:xfrm>
          <a:prstGeom prst="roundRect">
            <a:avLst>
              <a:gd name="adj" fmla="val 5714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38328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Did it help?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703320"/>
            <a:ext cx="7955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Yes, modestly: R² +0.004, MAE −£53, RMSE £2,025 → £1,928. The default model was already strong, so the room for improvement was small; the train–validation gap stays small.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model: evaluated once on the test set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HistGradientBoosting (XGBoost stand-in) (tuned)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463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2D9D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0.968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2194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Test R²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265176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£1,094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33832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Test MAE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374904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£1,773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448056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5C677D"/>
                </a:solidFill>
              </a:rPr>
              <a:t>Test RMSE</a:t>
            </a:r>
            <a:endParaRPr lang="en-US" sz="1200" dirty="0"/>
          </a:p>
        </p:txBody>
      </p:sp>
      <p:pic>
        <p:nvPicPr>
          <p:cNvPr id="10" name="Image 0" descr="10_actual_vs_predict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17520" y="1325880"/>
            <a:ext cx="5760720" cy="2158543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3017520" y="420624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77D"/>
                </a:solidFill>
              </a:rPr>
              <a:t>Median error £713 · 90% of predictions within £2,379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drives the price?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Permutation importance on the validation set</a:t>
            </a:r>
            <a:endParaRPr lang="en-US" sz="1400" dirty="0"/>
          </a:p>
        </p:txBody>
      </p:sp>
      <p:pic>
        <p:nvPicPr>
          <p:cNvPr id="4" name="Image 0" descr="11_feature_importan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80160"/>
            <a:ext cx="4572000" cy="309282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303520" y="13716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40680" y="1463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1. Vehicle age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40680" y="1783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The strongest driver — steep early depreciation.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03520" y="25146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44068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2. Engine &amp; brand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40680" y="2926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Engine size, power-vs-economy ratio, premium makes.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03520" y="3657600"/>
            <a:ext cx="3383280" cy="1051560"/>
          </a:xfrm>
          <a:prstGeom prst="roundRect">
            <a:avLst>
              <a:gd name="adj" fmla="val 695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440680" y="3749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3. Transmission, mileage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440680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Automatics cost more; mileage matters but overlaps with age.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does the model make large errors?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Largest £ errors: rare, expensive cars</a:t>
            </a:r>
            <a:endParaRPr lang="en-US" sz="1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280160"/>
          <a:ext cx="475488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394960" y="1371600"/>
            <a:ext cx="3291840" cy="1005840"/>
          </a:xfrm>
          <a:prstGeom prst="roundRect">
            <a:avLst>
              <a:gd name="adj" fmla="val 7273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532120" y="1463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Relative error is stable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532120" y="17830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Median error ≈ 5% in every price band.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5394960" y="2468880"/>
            <a:ext cx="3291840" cy="1097280"/>
          </a:xfrm>
          <a:prstGeom prst="roundRect">
            <a:avLst>
              <a:gd name="adj" fmla="val 666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532120" y="25603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Big misses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2880360"/>
            <a:ext cx="3017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G-Class, Audi R8, Mustang, GLE — few similar cars; trim and options are not in the data.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394960" y="3657600"/>
            <a:ext cx="3291840" cy="1051560"/>
          </a:xfrm>
          <a:prstGeom prst="roundRect">
            <a:avLst>
              <a:gd name="adj" fmla="val 6957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532120" y="37490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Suspicious listings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5532120" y="40690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Some +160% to +240% cases look like mis-priced or damaged cars.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Smart Deal Advisor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Rating = how far the seller's price is from the predicted market price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2D9D4A"/>
          </a:solidFill>
          <a:ln w="12700">
            <a:solidFill>
              <a:srgbClr val="2D9D4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🟢 Great Deal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&gt;10% cheaper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9% of test listings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148840" y="13716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8FD18F"/>
          </a:solidFill>
          <a:ln w="12700">
            <a:solidFill>
              <a:srgbClr val="8FD1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148840" y="137160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🟢 Good Deal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</a:rPr>
              <a:t>5–10% cheaper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16% of test listings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0" y="13716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2D04B"/>
          </a:solidFill>
          <a:ln w="12700">
            <a:solidFill>
              <a:srgbClr val="F2D04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840480" y="137160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🟡 Fair Price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</a:rPr>
              <a:t>within ±5%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49% of test listings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532120" y="13716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F0963A"/>
          </a:solidFill>
          <a:ln w="12700">
            <a:solidFill>
              <a:srgbClr val="F0963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532120" y="137160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213D"/>
                </a:solidFill>
              </a:rPr>
              <a:t>🟠 Slightly Overpriced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14213D"/>
                </a:solidFill>
              </a:rPr>
              <a:t>5–10% dearer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14213D"/>
                </a:solidFill>
              </a:rPr>
              <a:t>14% of test listings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223760" y="1371600"/>
            <a:ext cx="1554480" cy="1371600"/>
          </a:xfrm>
          <a:prstGeom prst="roundRect">
            <a:avLst>
              <a:gd name="adj" fmla="val 6667"/>
            </a:avLst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223760" y="1371600"/>
            <a:ext cx="15544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🔴 Overpriced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&gt;10% dearer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12% of test listings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017520"/>
            <a:ext cx="8229600" cy="1463040"/>
          </a:xfrm>
          <a:prstGeom prst="roundRect">
            <a:avLst>
              <a:gd name="adj" fmla="val 5000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3108960"/>
            <a:ext cx="7955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Example (from the brief)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" y="342900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Estimated market price £18,500 · Seller price £17,000 · Difference £1,500 cheaper (8.1%) · 🟢 GOOD DEAL.  On real test listings the advisor rates about half as fair and the rest roughly symmetric — as expected for a calibrated model. Ratings close to a boundary should be read as “roughly fair”, because the typical error is ~5%.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Streamlit application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8961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677D"/>
                </a:solidFill>
              </a:rPr>
              <a:t>Enter 8 fields → price, difference and rating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371600"/>
            <a:ext cx="3931920" cy="3200400"/>
          </a:xfrm>
          <a:prstGeom prst="roundRect">
            <a:avLst>
              <a:gd name="adj" fmla="val 2286"/>
            </a:avLst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4630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Inputs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78308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Make · Model · Year · Mileage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Transmission · Fuel type · Engine size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Seller price (£)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Tax and MPG are filled automatically with typical values for that make / model / engine (optional manual override).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rgbClr val="FFF3D6"/>
          </a:solidFill>
          <a:ln w="12700">
            <a:solidFill>
              <a:srgbClr val="FFF3D6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00600" y="146304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4213D"/>
                </a:solidFill>
              </a:rPr>
              <a:t>Output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4800600" y="1783080"/>
            <a:ext cx="374904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💰 Estimated Market Price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🏷️ Seller Price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💵 Difference (e.g. “£1,409 cheaper”)</a:t>
            </a: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🚦 Deal Rating (e.g. 🟢 GOOD DEAL)</a:t>
            </a:r>
            <a:endParaRPr lang="en-US" sz="1150" dirty="0"/>
          </a:p>
          <a:p>
            <a:pPr indent="0" marL="0">
              <a:buNone/>
            </a:pPr>
            <a:endParaRPr lang="en-US" sz="1150" dirty="0"/>
          </a:p>
          <a:p>
            <a:pPr indent="0" marL="0">
              <a:buNone/>
            </a:pPr>
            <a:r>
              <a:rPr lang="en-US" sz="1150" dirty="0">
                <a:solidFill>
                  <a:srgbClr val="14213D"/>
                </a:solidFill>
              </a:rPr>
              <a:t>Run:  streamlit run app.py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C677D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Conclusions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80467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ECF7"/>
                </a:solidFill>
              </a:rPr>
              <a:t>Test R² 0.968, MAE £1,094 — above the 0.90 target, error ≈ 5% of price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ECF7"/>
                </a:solidFill>
              </a:rPr>
              <a:t>Age first, then engine, brand/model and transmission drive price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ECF7"/>
                </a:solidFill>
              </a:rPr>
              <a:t>No leakage: split first, fit on train only, test set used once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ECF7"/>
                </a:solidFill>
              </a:rPr>
              <a:t>Deal Advisor turns a price estimate into a clear decision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ECF7"/>
                </a:solidFill>
              </a:rPr>
              <a:t>Limits: 2020 data, 9 makes, no trim / condition / options</a:t>
            </a:r>
            <a:endParaRPr lang="en-US" sz="18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800" dirty="0">
                <a:solidFill>
                  <a:srgbClr val="E6ECF7"/>
                </a:solidFill>
              </a:rPr>
              <a:t>Next: price intervals, fresh data, CatBoost / stacking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AutoWorth AI</dc:title>
  <dc:subject>PptxGenJS Presentation</dc:subject>
  <dc:creator>PptxGenJS</dc:creator>
  <cp:lastModifiedBy>PptxGenJS</cp:lastModifiedBy>
  <cp:revision>1</cp:revision>
  <dcterms:created xsi:type="dcterms:W3CDTF">2026-10-02T14:58:37Z</dcterms:created>
  <dcterms:modified xsi:type="dcterms:W3CDTF">2026-10-02T14:58:37Z</dcterms:modified>
</cp:coreProperties>
</file>